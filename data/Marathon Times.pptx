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76"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mand\Documents\NSS%20Data%20Analytics\Projects\marathons-from-access-green-team\data\Marathons%20Antonio.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Median Full Marathon Times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Analysis!$H$21</c:f>
              <c:strCache>
                <c:ptCount val="1"/>
                <c:pt idx="0">
                  <c:v>Median</c:v>
                </c:pt>
              </c:strCache>
            </c:strRef>
          </c:tx>
          <c:spPr>
            <a:solidFill>
              <a:schemeClr val="accent1"/>
            </a:solidFill>
            <a:ln>
              <a:noFill/>
            </a:ln>
            <a:effectLst/>
          </c:spPr>
          <c:invertIfNegative val="0"/>
          <c:cat>
            <c:strRef>
              <c:f>Analysis!$G$22:$G$25</c:f>
              <c:strCache>
                <c:ptCount val="4"/>
                <c:pt idx="0">
                  <c:v>2016 F</c:v>
                </c:pt>
                <c:pt idx="1">
                  <c:v>2017 F</c:v>
                </c:pt>
                <c:pt idx="2">
                  <c:v>2018 F</c:v>
                </c:pt>
                <c:pt idx="3">
                  <c:v>2019 F</c:v>
                </c:pt>
              </c:strCache>
            </c:strRef>
          </c:cat>
          <c:val>
            <c:numRef>
              <c:f>Analysis!$H$22:$H$25</c:f>
              <c:numCache>
                <c:formatCode>h:mm:ss;@</c:formatCode>
                <c:ptCount val="4"/>
                <c:pt idx="0">
                  <c:v>0.19814236111111111</c:v>
                </c:pt>
                <c:pt idx="1">
                  <c:v>0.20711226851851852</c:v>
                </c:pt>
                <c:pt idx="2">
                  <c:v>0.20024884259259257</c:v>
                </c:pt>
                <c:pt idx="3">
                  <c:v>0.1957986111111111</c:v>
                </c:pt>
              </c:numCache>
            </c:numRef>
          </c:val>
          <c:extLst>
            <c:ext xmlns:c16="http://schemas.microsoft.com/office/drawing/2014/chart" uri="{C3380CC4-5D6E-409C-BE32-E72D297353CC}">
              <c16:uniqueId val="{00000000-B794-42EE-8897-2B09D25BD781}"/>
            </c:ext>
          </c:extLst>
        </c:ser>
        <c:dLbls>
          <c:showLegendKey val="0"/>
          <c:showVal val="0"/>
          <c:showCatName val="0"/>
          <c:showSerName val="0"/>
          <c:showPercent val="0"/>
          <c:showBubbleSize val="0"/>
        </c:dLbls>
        <c:gapWidth val="219"/>
        <c:overlap val="-27"/>
        <c:axId val="2072137232"/>
        <c:axId val="2067851200"/>
      </c:barChart>
      <c:catAx>
        <c:axId val="2072137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67851200"/>
        <c:crosses val="autoZero"/>
        <c:auto val="1"/>
        <c:lblAlgn val="ctr"/>
        <c:lblOffset val="100"/>
        <c:noMultiLvlLbl val="0"/>
      </c:catAx>
      <c:valAx>
        <c:axId val="2067851200"/>
        <c:scaling>
          <c:orientation val="minMax"/>
        </c:scaling>
        <c:delete val="0"/>
        <c:axPos val="l"/>
        <c:majorGridlines>
          <c:spPr>
            <a:ln w="9525" cap="flat" cmpd="sng" algn="ctr">
              <a:solidFill>
                <a:schemeClr val="tx1">
                  <a:lumMod val="15000"/>
                  <a:lumOff val="85000"/>
                </a:schemeClr>
              </a:solidFill>
              <a:round/>
            </a:ln>
            <a:effectLst/>
          </c:spPr>
        </c:majorGridlines>
        <c:numFmt formatCode="h:mm:ss;@"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21372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Median Half Marathon</a:t>
            </a:r>
            <a:r>
              <a:rPr lang="en-US" baseline="0" dirty="0"/>
              <a:t> Times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Analysis!$H$27</c:f>
              <c:strCache>
                <c:ptCount val="1"/>
                <c:pt idx="0">
                  <c:v>Percentile</c:v>
                </c:pt>
              </c:strCache>
            </c:strRef>
          </c:tx>
          <c:spPr>
            <a:solidFill>
              <a:schemeClr val="accent1"/>
            </a:solidFill>
            <a:ln>
              <a:noFill/>
            </a:ln>
            <a:effectLst/>
          </c:spPr>
          <c:invertIfNegative val="0"/>
          <c:cat>
            <c:numRef>
              <c:f>Analysis!$G$28:$G$31</c:f>
              <c:numCache>
                <c:formatCode>General</c:formatCode>
                <c:ptCount val="4"/>
                <c:pt idx="0">
                  <c:v>2016</c:v>
                </c:pt>
                <c:pt idx="1">
                  <c:v>2017</c:v>
                </c:pt>
                <c:pt idx="2">
                  <c:v>2018</c:v>
                </c:pt>
                <c:pt idx="3">
                  <c:v>2019</c:v>
                </c:pt>
              </c:numCache>
            </c:numRef>
          </c:cat>
          <c:val>
            <c:numRef>
              <c:f>Analysis!$H$28:$H$31</c:f>
              <c:numCache>
                <c:formatCode>0%</c:formatCode>
                <c:ptCount val="4"/>
                <c:pt idx="0">
                  <c:v>0.68200000000000005</c:v>
                </c:pt>
                <c:pt idx="1">
                  <c:v>0.81699999999999995</c:v>
                </c:pt>
                <c:pt idx="2">
                  <c:v>0.96</c:v>
                </c:pt>
                <c:pt idx="3">
                  <c:v>0.997</c:v>
                </c:pt>
              </c:numCache>
            </c:numRef>
          </c:val>
          <c:extLst>
            <c:ext xmlns:c16="http://schemas.microsoft.com/office/drawing/2014/chart" uri="{C3380CC4-5D6E-409C-BE32-E72D297353CC}">
              <c16:uniqueId val="{00000000-322F-484E-B37D-FC38017A6212}"/>
            </c:ext>
          </c:extLst>
        </c:ser>
        <c:dLbls>
          <c:showLegendKey val="0"/>
          <c:showVal val="0"/>
          <c:showCatName val="0"/>
          <c:showSerName val="0"/>
          <c:showPercent val="0"/>
          <c:showBubbleSize val="0"/>
        </c:dLbls>
        <c:gapWidth val="219"/>
        <c:overlap val="-27"/>
        <c:axId val="2072129232"/>
        <c:axId val="2066025408"/>
      </c:barChart>
      <c:catAx>
        <c:axId val="20721292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66025408"/>
        <c:crosses val="autoZero"/>
        <c:auto val="1"/>
        <c:lblAlgn val="ctr"/>
        <c:lblOffset val="100"/>
        <c:noMultiLvlLbl val="0"/>
      </c:catAx>
      <c:valAx>
        <c:axId val="2066025408"/>
        <c:scaling>
          <c:orientation val="minMax"/>
        </c:scaling>
        <c:delete val="0"/>
        <c:axPos val="l"/>
        <c:majorGridlines>
          <c:spPr>
            <a:ln w="9525" cap="flat" cmpd="sng" algn="ctr">
              <a:solidFill>
                <a:schemeClr val="tx1">
                  <a:lumMod val="15000"/>
                  <a:lumOff val="85000"/>
                </a:schemeClr>
              </a:solidFill>
              <a:round/>
            </a:ln>
            <a:effectLst/>
          </c:spPr>
        </c:majorGridlines>
        <c:numFmt formatCode="h:mm:ss;@"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21292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AF77F-0269-41D5-9EEB-8FB144C19A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E952BC-9DE8-4601-8F86-D6BF3A267C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08783F-E922-446F-9BB2-12726E3EE2F6}"/>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5" name="Footer Placeholder 4">
            <a:extLst>
              <a:ext uri="{FF2B5EF4-FFF2-40B4-BE49-F238E27FC236}">
                <a16:creationId xmlns:a16="http://schemas.microsoft.com/office/drawing/2014/main" id="{91ECF241-4817-4D01-8725-6FCDA8025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121B9-832A-4D79-ACD5-841CCA83CAC8}"/>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2264050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9AA6-55AB-4E79-9CB1-E91A13E3E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C1C7A0-DD67-4BC8-9EC8-447A6A14BF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B2D558-BAEC-4889-88DE-09C3AC835042}"/>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5" name="Footer Placeholder 4">
            <a:extLst>
              <a:ext uri="{FF2B5EF4-FFF2-40B4-BE49-F238E27FC236}">
                <a16:creationId xmlns:a16="http://schemas.microsoft.com/office/drawing/2014/main" id="{23D0E342-4499-41E9-AD45-B4CAE69756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84C6AE-1482-44AD-8853-B99E93BC3CBB}"/>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3976467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7068A-9FC5-474E-BC85-BADAB59A12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506355-157D-4F94-819F-20D0223D28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E3AF83-1279-4FF7-ABA1-96409754290A}"/>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5" name="Footer Placeholder 4">
            <a:extLst>
              <a:ext uri="{FF2B5EF4-FFF2-40B4-BE49-F238E27FC236}">
                <a16:creationId xmlns:a16="http://schemas.microsoft.com/office/drawing/2014/main" id="{C08BE320-72EB-4CF4-968E-CC63D077FD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C44688-AC0D-47FE-93C4-8E0017A805E6}"/>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1468208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1A649-C54E-4368-B0D3-AC040C7AC1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EC9891-A8F9-465B-B0F9-AD92F1199A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123B92-2071-416F-8657-B9BB7F0205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66B4CE-1F55-4217-B6F5-468277C37581}"/>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6" name="Footer Placeholder 5">
            <a:extLst>
              <a:ext uri="{FF2B5EF4-FFF2-40B4-BE49-F238E27FC236}">
                <a16:creationId xmlns:a16="http://schemas.microsoft.com/office/drawing/2014/main" id="{D3699E1A-B654-4433-8F7F-230D58FA96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E51B07-7104-42E7-BB9E-C26031E8FDC2}"/>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501938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10F0D-8218-434C-954D-409AFBC697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84204F2-C4FD-4403-BF0D-FB2893C985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EDDECF-E203-48A4-8723-531A89C482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86608D-8A9B-44F8-87BB-CB307508B4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541F49-0113-41FE-8AAA-0778E177F2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C3728E-9B70-4042-A9AA-784A2770E1E0}"/>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8" name="Footer Placeholder 7">
            <a:extLst>
              <a:ext uri="{FF2B5EF4-FFF2-40B4-BE49-F238E27FC236}">
                <a16:creationId xmlns:a16="http://schemas.microsoft.com/office/drawing/2014/main" id="{CF27AEB5-4A42-43C0-BB40-AA743D81C2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2FEEF2-6E44-4833-8B0E-2306074C9A10}"/>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3875924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A625A-F9C4-441C-8283-04FA533A52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7E842F-6678-4535-AD22-A2F57CDBD1EF}"/>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4" name="Footer Placeholder 3">
            <a:extLst>
              <a:ext uri="{FF2B5EF4-FFF2-40B4-BE49-F238E27FC236}">
                <a16:creationId xmlns:a16="http://schemas.microsoft.com/office/drawing/2014/main" id="{772D6DA8-6322-4878-B8A1-75C0634340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C02C6E-FC73-43F3-A2BF-76F420C5553D}"/>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3730296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02C1CF-BF04-4CF4-BDBB-5B7E6939964A}"/>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3" name="Footer Placeholder 2">
            <a:extLst>
              <a:ext uri="{FF2B5EF4-FFF2-40B4-BE49-F238E27FC236}">
                <a16:creationId xmlns:a16="http://schemas.microsoft.com/office/drawing/2014/main" id="{80EADC65-F8B5-45E4-94FC-86BE351A50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57E7639-B931-478E-A149-6A19992DA30D}"/>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1149755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71D5A-1CC2-4592-ABB4-DB74B5D231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BA103A-2EF9-4201-BAC4-0249731B08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7A18E9-270A-49CB-BD14-0B094C78D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6480B1-28D6-4A7B-8E1C-B589712B2A98}"/>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6" name="Footer Placeholder 5">
            <a:extLst>
              <a:ext uri="{FF2B5EF4-FFF2-40B4-BE49-F238E27FC236}">
                <a16:creationId xmlns:a16="http://schemas.microsoft.com/office/drawing/2014/main" id="{E4273A9B-4CC1-40D3-9331-150C55F95F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8E4D1B-A09B-46DE-9792-9BADBD3A9525}"/>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502916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68A85-E440-45A8-8C06-B1FE2D2FA2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8896D4-021D-40C5-9155-05E2909175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A17A98-F9D9-4BB1-84B2-3B231CA2A5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AA6691-FECB-4D96-9F83-D50D4944E7B5}"/>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6" name="Footer Placeholder 5">
            <a:extLst>
              <a:ext uri="{FF2B5EF4-FFF2-40B4-BE49-F238E27FC236}">
                <a16:creationId xmlns:a16="http://schemas.microsoft.com/office/drawing/2014/main" id="{061320A7-68A0-44A8-B815-6CFC6959E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384B8E-FFF5-4EEC-9FA7-EBF16B47AF82}"/>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322821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0AB23-8318-4C8A-B90E-8DDCE379B4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67D964-40BE-4C0E-B477-8D0CA154AB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87F870-E400-4714-9DBB-1CC121A309E3}"/>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5" name="Footer Placeholder 4">
            <a:extLst>
              <a:ext uri="{FF2B5EF4-FFF2-40B4-BE49-F238E27FC236}">
                <a16:creationId xmlns:a16="http://schemas.microsoft.com/office/drawing/2014/main" id="{B3865A04-4292-4678-BF47-0424CAAE79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36FD46-32EA-404C-A0C4-6F89CF556B10}"/>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2953429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336B93-BEEF-4A8C-A89C-C31AF58ECE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081CE7-A5BA-4379-99CA-16B8F5FE2D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F3360E-CD08-4051-8BA4-C386D7CB3C88}"/>
              </a:ext>
            </a:extLst>
          </p:cNvPr>
          <p:cNvSpPr>
            <a:spLocks noGrp="1"/>
          </p:cNvSpPr>
          <p:nvPr>
            <p:ph type="dt" sz="half" idx="10"/>
          </p:nvPr>
        </p:nvSpPr>
        <p:spPr/>
        <p:txBody>
          <a:bodyPr/>
          <a:lstStyle/>
          <a:p>
            <a:fld id="{E9D22495-2D48-4AD5-9FE2-1CC13B2EF235}" type="datetimeFigureOut">
              <a:rPr lang="en-US" smtClean="0"/>
              <a:t>3/23/2020</a:t>
            </a:fld>
            <a:endParaRPr lang="en-US"/>
          </a:p>
        </p:txBody>
      </p:sp>
      <p:sp>
        <p:nvSpPr>
          <p:cNvPr id="5" name="Footer Placeholder 4">
            <a:extLst>
              <a:ext uri="{FF2B5EF4-FFF2-40B4-BE49-F238E27FC236}">
                <a16:creationId xmlns:a16="http://schemas.microsoft.com/office/drawing/2014/main" id="{04AC2D30-D00F-44E8-9180-8EEFD379DB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6A778-FC53-42D6-95C6-27F323053B4C}"/>
              </a:ext>
            </a:extLst>
          </p:cNvPr>
          <p:cNvSpPr>
            <a:spLocks noGrp="1"/>
          </p:cNvSpPr>
          <p:nvPr>
            <p:ph type="sldNum" sz="quarter" idx="12"/>
          </p:nvPr>
        </p:nvSpPr>
        <p:spPr/>
        <p:txBody>
          <a:bodyPr/>
          <a:lstStyle/>
          <a:p>
            <a:fld id="{9F307191-F8B9-4B64-8CD8-B14B844ECBBB}" type="slidenum">
              <a:rPr lang="en-US" smtClean="0"/>
              <a:t>‹#›</a:t>
            </a:fld>
            <a:endParaRPr lang="en-US"/>
          </a:p>
        </p:txBody>
      </p:sp>
    </p:spTree>
    <p:extLst>
      <p:ext uri="{BB962C8B-B14F-4D97-AF65-F5344CB8AC3E}">
        <p14:creationId xmlns:p14="http://schemas.microsoft.com/office/powerpoint/2010/main" val="4044847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B7964E-A198-46C7-95DA-BD73B0061C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07EC29-A4CF-48D1-B067-556D47870B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3DFCB2-6101-4A50-9228-D3512D5671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D22495-2D48-4AD5-9FE2-1CC13B2EF235}" type="datetimeFigureOut">
              <a:rPr lang="en-US" smtClean="0"/>
              <a:t>3/23/2020</a:t>
            </a:fld>
            <a:endParaRPr lang="en-US"/>
          </a:p>
        </p:txBody>
      </p:sp>
      <p:sp>
        <p:nvSpPr>
          <p:cNvPr id="5" name="Footer Placeholder 4">
            <a:extLst>
              <a:ext uri="{FF2B5EF4-FFF2-40B4-BE49-F238E27FC236}">
                <a16:creationId xmlns:a16="http://schemas.microsoft.com/office/drawing/2014/main" id="{14767939-E09D-4043-B771-AB6BF1BD69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CBC004-7DC5-4F93-914C-00CCDB6C93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307191-F8B9-4B64-8CD8-B14B844ECBBB}" type="slidenum">
              <a:rPr lang="en-US" smtClean="0"/>
              <a:t>‹#›</a:t>
            </a:fld>
            <a:endParaRPr lang="en-US"/>
          </a:p>
        </p:txBody>
      </p:sp>
    </p:spTree>
    <p:extLst>
      <p:ext uri="{BB962C8B-B14F-4D97-AF65-F5344CB8AC3E}">
        <p14:creationId xmlns:p14="http://schemas.microsoft.com/office/powerpoint/2010/main" val="348182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EBC68-7100-4E7B-B0F6-A80B0E6EBD62}"/>
              </a:ext>
            </a:extLst>
          </p:cNvPr>
          <p:cNvSpPr>
            <a:spLocks noGrp="1"/>
          </p:cNvSpPr>
          <p:nvPr>
            <p:ph type="ctrTitle"/>
          </p:nvPr>
        </p:nvSpPr>
        <p:spPr/>
        <p:txBody>
          <a:bodyPr/>
          <a:lstStyle/>
          <a:p>
            <a:r>
              <a:rPr lang="en-US" dirty="0"/>
              <a:t>Marathon Times</a:t>
            </a:r>
          </a:p>
        </p:txBody>
      </p:sp>
      <p:sp>
        <p:nvSpPr>
          <p:cNvPr id="3" name="Subtitle 2">
            <a:extLst>
              <a:ext uri="{FF2B5EF4-FFF2-40B4-BE49-F238E27FC236}">
                <a16:creationId xmlns:a16="http://schemas.microsoft.com/office/drawing/2014/main" id="{FCD3D419-AFCB-48BD-AF84-85F2D79A89C6}"/>
              </a:ext>
            </a:extLst>
          </p:cNvPr>
          <p:cNvSpPr>
            <a:spLocks noGrp="1"/>
          </p:cNvSpPr>
          <p:nvPr>
            <p:ph type="subTitle" idx="1"/>
          </p:nvPr>
        </p:nvSpPr>
        <p:spPr/>
        <p:txBody>
          <a:bodyPr/>
          <a:lstStyle/>
          <a:p>
            <a:r>
              <a:rPr lang="en-US" dirty="0"/>
              <a:t>Cristina, Antonio, Amanda</a:t>
            </a:r>
          </a:p>
        </p:txBody>
      </p:sp>
    </p:spTree>
    <p:extLst>
      <p:ext uri="{BB962C8B-B14F-4D97-AF65-F5344CB8AC3E}">
        <p14:creationId xmlns:p14="http://schemas.microsoft.com/office/powerpoint/2010/main" val="589954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AE7A5-4DA1-4E90-AD8F-D914ECCB9E04}"/>
              </a:ext>
            </a:extLst>
          </p:cNvPr>
          <p:cNvSpPr>
            <a:spLocks noGrp="1"/>
          </p:cNvSpPr>
          <p:nvPr>
            <p:ph type="title"/>
          </p:nvPr>
        </p:nvSpPr>
        <p:spPr/>
        <p:txBody>
          <a:bodyPr/>
          <a:lstStyle/>
          <a:p>
            <a:r>
              <a:rPr lang="en-US" dirty="0"/>
              <a:t>Median Marathon Times</a:t>
            </a:r>
          </a:p>
        </p:txBody>
      </p:sp>
      <p:sp>
        <p:nvSpPr>
          <p:cNvPr id="3" name="Content Placeholder 2">
            <a:extLst>
              <a:ext uri="{FF2B5EF4-FFF2-40B4-BE49-F238E27FC236}">
                <a16:creationId xmlns:a16="http://schemas.microsoft.com/office/drawing/2014/main" id="{C46AD65B-D12F-4FBB-858E-BE1D8E05DF9B}"/>
              </a:ext>
            </a:extLst>
          </p:cNvPr>
          <p:cNvSpPr>
            <a:spLocks noGrp="1"/>
          </p:cNvSpPr>
          <p:nvPr>
            <p:ph idx="1"/>
          </p:nvPr>
        </p:nvSpPr>
        <p:spPr>
          <a:xfrm>
            <a:off x="838200" y="1506029"/>
            <a:ext cx="10515600" cy="4667250"/>
          </a:xfrm>
        </p:spPr>
        <p:txBody>
          <a:bodyPr>
            <a:normAutofit/>
          </a:bodyPr>
          <a:lstStyle/>
          <a:p>
            <a:pPr marL="0" indent="0">
              <a:buNone/>
            </a:pPr>
            <a:r>
              <a:rPr lang="en-US" sz="2400" dirty="0"/>
              <a:t>One thing we noticed about the marathon times, is that they were much slower in 2017 than the other years. We looked into it and found that since temperatures were supposed to hit 90 by noon, the marathon was moved thirty minutes earlier, making the new start time 6:15am. By 12:00pm, it was already 91 degrees. </a:t>
            </a:r>
          </a:p>
        </p:txBody>
      </p:sp>
      <p:graphicFrame>
        <p:nvGraphicFramePr>
          <p:cNvPr id="4" name="Chart 3">
            <a:extLst>
              <a:ext uri="{FF2B5EF4-FFF2-40B4-BE49-F238E27FC236}">
                <a16:creationId xmlns:a16="http://schemas.microsoft.com/office/drawing/2014/main" id="{DD0A3E66-879E-49AB-9752-77AABF004D74}"/>
              </a:ext>
            </a:extLst>
          </p:cNvPr>
          <p:cNvGraphicFramePr>
            <a:graphicFrameLocks/>
          </p:cNvGraphicFramePr>
          <p:nvPr>
            <p:extLst>
              <p:ext uri="{D42A27DB-BD31-4B8C-83A1-F6EECF244321}">
                <p14:modId xmlns:p14="http://schemas.microsoft.com/office/powerpoint/2010/main" val="1126108431"/>
              </p:ext>
            </p:extLst>
          </p:nvPr>
        </p:nvGraphicFramePr>
        <p:xfrm>
          <a:off x="1040168" y="314719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2C09FBAB-1B33-42B9-B10A-DBDB49D23578}"/>
              </a:ext>
            </a:extLst>
          </p:cNvPr>
          <p:cNvGraphicFramePr>
            <a:graphicFrameLocks/>
          </p:cNvGraphicFramePr>
          <p:nvPr>
            <p:extLst>
              <p:ext uri="{D42A27DB-BD31-4B8C-83A1-F6EECF244321}">
                <p14:modId xmlns:p14="http://schemas.microsoft.com/office/powerpoint/2010/main" val="2859973594"/>
              </p:ext>
            </p:extLst>
          </p:nvPr>
        </p:nvGraphicFramePr>
        <p:xfrm>
          <a:off x="6096000" y="3147196"/>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2915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9ADDE-B532-4490-A67E-E985C38EF305}"/>
              </a:ext>
            </a:extLst>
          </p:cNvPr>
          <p:cNvSpPr>
            <a:spLocks noGrp="1"/>
          </p:cNvSpPr>
          <p:nvPr>
            <p:ph type="title"/>
          </p:nvPr>
        </p:nvSpPr>
        <p:spPr/>
        <p:txBody>
          <a:bodyPr/>
          <a:lstStyle/>
          <a:p>
            <a:r>
              <a:rPr lang="en-US" dirty="0"/>
              <a:t>Scott’s Times Ahead of Next Leader</a:t>
            </a:r>
          </a:p>
        </p:txBody>
      </p:sp>
      <p:graphicFrame>
        <p:nvGraphicFramePr>
          <p:cNvPr id="4" name="Content Placeholder 3">
            <a:extLst>
              <a:ext uri="{FF2B5EF4-FFF2-40B4-BE49-F238E27FC236}">
                <a16:creationId xmlns:a16="http://schemas.microsoft.com/office/drawing/2014/main" id="{5E16BE3E-8684-4C04-8BE8-AB2D61653BD5}"/>
              </a:ext>
            </a:extLst>
          </p:cNvPr>
          <p:cNvGraphicFramePr>
            <a:graphicFrameLocks noGrp="1"/>
          </p:cNvGraphicFramePr>
          <p:nvPr>
            <p:ph idx="1"/>
            <p:extLst>
              <p:ext uri="{D42A27DB-BD31-4B8C-83A1-F6EECF244321}">
                <p14:modId xmlns:p14="http://schemas.microsoft.com/office/powerpoint/2010/main" val="3756711925"/>
              </p:ext>
            </p:extLst>
          </p:nvPr>
        </p:nvGraphicFramePr>
        <p:xfrm>
          <a:off x="2042160" y="2583936"/>
          <a:ext cx="6878320" cy="3633150"/>
        </p:xfrm>
        <a:graphic>
          <a:graphicData uri="http://schemas.openxmlformats.org/drawingml/2006/table">
            <a:tbl>
              <a:tblPr>
                <a:tableStyleId>{5C22544A-7EE6-4342-B048-85BDC9FD1C3A}</a:tableStyleId>
              </a:tblPr>
              <a:tblGrid>
                <a:gridCol w="2947852">
                  <a:extLst>
                    <a:ext uri="{9D8B030D-6E8A-4147-A177-3AD203B41FA5}">
                      <a16:colId xmlns:a16="http://schemas.microsoft.com/office/drawing/2014/main" val="3683796815"/>
                    </a:ext>
                  </a:extLst>
                </a:gridCol>
                <a:gridCol w="3930468">
                  <a:extLst>
                    <a:ext uri="{9D8B030D-6E8A-4147-A177-3AD203B41FA5}">
                      <a16:colId xmlns:a16="http://schemas.microsoft.com/office/drawing/2014/main" val="4035239992"/>
                    </a:ext>
                  </a:extLst>
                </a:gridCol>
              </a:tblGrid>
              <a:tr h="726630">
                <a:tc>
                  <a:txBody>
                    <a:bodyPr/>
                    <a:lstStyle/>
                    <a:p>
                      <a:pPr algn="l" fontAlgn="b"/>
                      <a:r>
                        <a:rPr lang="en-US" sz="1100" u="none" strike="noStrike" dirty="0">
                          <a:effectLst/>
                        </a:rPr>
                        <a:t>Year</a:t>
                      </a:r>
                      <a:endParaRPr lang="en-US" sz="1100" b="1" i="0" u="none" strike="noStrike" dirty="0">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dirty="0">
                          <a:effectLst/>
                        </a:rPr>
                        <a:t>Off Leader</a:t>
                      </a:r>
                      <a:endParaRPr lang="en-US" sz="1100" b="1" i="0" u="none" strike="noStrike" dirty="0">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34171021"/>
                  </a:ext>
                </a:extLst>
              </a:tr>
              <a:tr h="726630">
                <a:tc>
                  <a:txBody>
                    <a:bodyPr/>
                    <a:lstStyle/>
                    <a:p>
                      <a:pPr algn="ctr" fontAlgn="b"/>
                      <a:r>
                        <a:rPr lang="en-US" sz="1100" u="none" strike="noStrike" dirty="0">
                          <a:effectLst/>
                        </a:rPr>
                        <a:t>2016</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0:09:01</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08400448"/>
                  </a:ext>
                </a:extLst>
              </a:tr>
              <a:tr h="726630">
                <a:tc>
                  <a:txBody>
                    <a:bodyPr/>
                    <a:lstStyle/>
                    <a:p>
                      <a:pPr algn="ctr" fontAlgn="b"/>
                      <a:r>
                        <a:rPr lang="en-US" sz="1100" u="none" strike="noStrike">
                          <a:effectLst/>
                        </a:rPr>
                        <a:t>2017</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0:16:03</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494004664"/>
                  </a:ext>
                </a:extLst>
              </a:tr>
              <a:tr h="726630">
                <a:tc>
                  <a:txBody>
                    <a:bodyPr/>
                    <a:lstStyle/>
                    <a:p>
                      <a:pPr algn="ctr" fontAlgn="b"/>
                      <a:r>
                        <a:rPr lang="en-US" sz="1100" u="none" strike="noStrike">
                          <a:effectLst/>
                        </a:rPr>
                        <a:t>2018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0:01:36</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175690136"/>
                  </a:ext>
                </a:extLst>
              </a:tr>
              <a:tr h="726630">
                <a:tc>
                  <a:txBody>
                    <a:bodyPr/>
                    <a:lstStyle/>
                    <a:p>
                      <a:pPr algn="ctr" fontAlgn="b"/>
                      <a:r>
                        <a:rPr lang="en-US" sz="1100" u="none" strike="noStrike">
                          <a:effectLst/>
                        </a:rPr>
                        <a:t>2019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1100" u="none" strike="noStrike" dirty="0">
                          <a:effectLst/>
                        </a:rPr>
                        <a:t>0:00:25</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66450831"/>
                  </a:ext>
                </a:extLst>
              </a:tr>
            </a:tbl>
          </a:graphicData>
        </a:graphic>
      </p:graphicFrame>
      <p:sp>
        <p:nvSpPr>
          <p:cNvPr id="5" name="TextBox 4">
            <a:extLst>
              <a:ext uri="{FF2B5EF4-FFF2-40B4-BE49-F238E27FC236}">
                <a16:creationId xmlns:a16="http://schemas.microsoft.com/office/drawing/2014/main" id="{6DAFF4E1-F034-4CF9-AA24-83E0BE173A58}"/>
              </a:ext>
            </a:extLst>
          </p:cNvPr>
          <p:cNvSpPr txBox="1"/>
          <p:nvPr/>
        </p:nvSpPr>
        <p:spPr>
          <a:xfrm>
            <a:off x="838200" y="1534160"/>
            <a:ext cx="9362440" cy="923330"/>
          </a:xfrm>
          <a:prstGeom prst="rect">
            <a:avLst/>
          </a:prstGeom>
          <a:noFill/>
        </p:spPr>
        <p:txBody>
          <a:bodyPr wrap="square" rtlCol="0">
            <a:spAutoFit/>
          </a:bodyPr>
          <a:lstStyle/>
          <a:p>
            <a:r>
              <a:rPr lang="en-US" dirty="0"/>
              <a:t>Although Scott was also slower than his personal best time in 2017, his increase in lead over his next closest competitor was much better this year than in any other year. We think this is because he is used to these temperatures or that he has trained for these conditions.</a:t>
            </a:r>
          </a:p>
        </p:txBody>
      </p:sp>
    </p:spTree>
    <p:extLst>
      <p:ext uri="{BB962C8B-B14F-4D97-AF65-F5344CB8AC3E}">
        <p14:creationId xmlns:p14="http://schemas.microsoft.com/office/powerpoint/2010/main" val="3603008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EF3D0-6D01-4F96-9A7A-77AFCC9B5CFB}"/>
              </a:ext>
            </a:extLst>
          </p:cNvPr>
          <p:cNvSpPr>
            <a:spLocks noGrp="1"/>
          </p:cNvSpPr>
          <p:nvPr>
            <p:ph type="title"/>
          </p:nvPr>
        </p:nvSpPr>
        <p:spPr/>
        <p:txBody>
          <a:bodyPr/>
          <a:lstStyle/>
          <a:p>
            <a:r>
              <a:rPr lang="en-US" dirty="0"/>
              <a:t>Oprah’s Times</a:t>
            </a:r>
          </a:p>
        </p:txBody>
      </p:sp>
      <p:graphicFrame>
        <p:nvGraphicFramePr>
          <p:cNvPr id="4" name="Content Placeholder 3">
            <a:extLst>
              <a:ext uri="{FF2B5EF4-FFF2-40B4-BE49-F238E27FC236}">
                <a16:creationId xmlns:a16="http://schemas.microsoft.com/office/drawing/2014/main" id="{68DEEBBD-94F3-4497-92C3-F07A4053AE4B}"/>
              </a:ext>
            </a:extLst>
          </p:cNvPr>
          <p:cNvGraphicFramePr>
            <a:graphicFrameLocks noGrp="1"/>
          </p:cNvGraphicFramePr>
          <p:nvPr>
            <p:ph idx="1"/>
            <p:extLst>
              <p:ext uri="{D42A27DB-BD31-4B8C-83A1-F6EECF244321}">
                <p14:modId xmlns:p14="http://schemas.microsoft.com/office/powerpoint/2010/main" val="3107083317"/>
              </p:ext>
            </p:extLst>
          </p:nvPr>
        </p:nvGraphicFramePr>
        <p:xfrm>
          <a:off x="7884160" y="1919575"/>
          <a:ext cx="2905760" cy="3723640"/>
        </p:xfrm>
        <a:graphic>
          <a:graphicData uri="http://schemas.openxmlformats.org/drawingml/2006/table">
            <a:tbl>
              <a:tblPr>
                <a:tableStyleId>{5C22544A-7EE6-4342-B048-85BDC9FD1C3A}</a:tableStyleId>
              </a:tblPr>
              <a:tblGrid>
                <a:gridCol w="1589944">
                  <a:extLst>
                    <a:ext uri="{9D8B030D-6E8A-4147-A177-3AD203B41FA5}">
                      <a16:colId xmlns:a16="http://schemas.microsoft.com/office/drawing/2014/main" val="1332296213"/>
                    </a:ext>
                  </a:extLst>
                </a:gridCol>
                <a:gridCol w="1315816">
                  <a:extLst>
                    <a:ext uri="{9D8B030D-6E8A-4147-A177-3AD203B41FA5}">
                      <a16:colId xmlns:a16="http://schemas.microsoft.com/office/drawing/2014/main" val="3504249979"/>
                    </a:ext>
                  </a:extLst>
                </a:gridCol>
              </a:tblGrid>
              <a:tr h="744728">
                <a:tc>
                  <a:txBody>
                    <a:bodyPr/>
                    <a:lstStyle/>
                    <a:p>
                      <a:pPr algn="l" fontAlgn="b"/>
                      <a:r>
                        <a:rPr lang="en-US" sz="1100" u="none" strike="noStrike">
                          <a:effectLst/>
                        </a:rPr>
                        <a:t>Year</a:t>
                      </a:r>
                      <a:endParaRPr lang="en-US" sz="1100" b="1" i="0" u="none" strike="noStrike">
                        <a:solidFill>
                          <a:srgbClr val="FFFFFF"/>
                        </a:solidFill>
                        <a:effectLst/>
                        <a:latin typeface="Calibri" panose="020F0502020204030204" pitchFamily="34" charset="0"/>
                      </a:endParaRPr>
                    </a:p>
                  </a:txBody>
                  <a:tcPr marL="6350" marR="6350" marT="6350" marB="0" anchor="b"/>
                </a:tc>
                <a:tc>
                  <a:txBody>
                    <a:bodyPr/>
                    <a:lstStyle/>
                    <a:p>
                      <a:pPr algn="l" fontAlgn="b"/>
                      <a:r>
                        <a:rPr lang="en-US" sz="1100" u="none" strike="noStrike">
                          <a:effectLst/>
                        </a:rPr>
                        <a:t>Percentile</a:t>
                      </a:r>
                      <a:endParaRPr lang="en-US" sz="1100" b="1" i="0" u="none" strike="noStrike">
                        <a:solidFill>
                          <a:srgbClr val="FFFFFF"/>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998824698"/>
                  </a:ext>
                </a:extLst>
              </a:tr>
              <a:tr h="744728">
                <a:tc>
                  <a:txBody>
                    <a:bodyPr/>
                    <a:lstStyle/>
                    <a:p>
                      <a:pPr algn="l" fontAlgn="b"/>
                      <a:r>
                        <a:rPr lang="en-US" sz="1100" u="none" strike="noStrike" dirty="0">
                          <a:effectLst/>
                        </a:rPr>
                        <a:t>2016</a:t>
                      </a:r>
                      <a:endParaRPr lang="en-US"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37%</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269986666"/>
                  </a:ext>
                </a:extLst>
              </a:tr>
              <a:tr h="744728">
                <a:tc>
                  <a:txBody>
                    <a:bodyPr/>
                    <a:lstStyle/>
                    <a:p>
                      <a:pPr algn="l" fontAlgn="b"/>
                      <a:r>
                        <a:rPr lang="en-US" sz="1100" u="none" strike="noStrike">
                          <a:effectLst/>
                        </a:rPr>
                        <a:t>2017</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25%</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13260583"/>
                  </a:ext>
                </a:extLst>
              </a:tr>
              <a:tr h="744728">
                <a:tc>
                  <a:txBody>
                    <a:bodyPr/>
                    <a:lstStyle/>
                    <a:p>
                      <a:pPr algn="l" fontAlgn="b"/>
                      <a:r>
                        <a:rPr lang="en-US" sz="1100" u="none" strike="noStrike">
                          <a:effectLst/>
                        </a:rPr>
                        <a:t>2018</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a:effectLst/>
                        </a:rPr>
                        <a:t>36%</a:t>
                      </a:r>
                      <a:endParaRPr lang="en-US"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926399960"/>
                  </a:ext>
                </a:extLst>
              </a:tr>
              <a:tr h="744728">
                <a:tc>
                  <a:txBody>
                    <a:bodyPr/>
                    <a:lstStyle/>
                    <a:p>
                      <a:pPr algn="l" fontAlgn="b"/>
                      <a:r>
                        <a:rPr lang="en-US" sz="1100" u="none" strike="noStrike">
                          <a:effectLst/>
                        </a:rPr>
                        <a:t>2019</a:t>
                      </a:r>
                      <a:endParaRPr lang="en-US"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US" sz="1100" u="none" strike="noStrike" dirty="0">
                          <a:effectLst/>
                        </a:rPr>
                        <a:t>39%</a:t>
                      </a:r>
                      <a:endParaRPr lang="en-US"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796399256"/>
                  </a:ext>
                </a:extLst>
              </a:tr>
            </a:tbl>
          </a:graphicData>
        </a:graphic>
      </p:graphicFrame>
      <p:sp>
        <p:nvSpPr>
          <p:cNvPr id="5" name="TextBox 4">
            <a:extLst>
              <a:ext uri="{FF2B5EF4-FFF2-40B4-BE49-F238E27FC236}">
                <a16:creationId xmlns:a16="http://schemas.microsoft.com/office/drawing/2014/main" id="{2C5B7E19-AB00-4501-8A03-0360C3C16652}"/>
              </a:ext>
            </a:extLst>
          </p:cNvPr>
          <p:cNvSpPr txBox="1"/>
          <p:nvPr/>
        </p:nvSpPr>
        <p:spPr>
          <a:xfrm>
            <a:off x="721360" y="2011680"/>
            <a:ext cx="6268720" cy="3539430"/>
          </a:xfrm>
          <a:prstGeom prst="rect">
            <a:avLst/>
          </a:prstGeom>
          <a:noFill/>
        </p:spPr>
        <p:txBody>
          <a:bodyPr wrap="square" rtlCol="0">
            <a:spAutoFit/>
          </a:bodyPr>
          <a:lstStyle/>
          <a:p>
            <a:r>
              <a:rPr lang="en-US" sz="3200" dirty="0"/>
              <a:t>2017 was also the year that the fewest people beat Oprah’s times during a full marathon. While the other three years are only separated by two percent points, 2017 is 11 percent points lower than the next lowest year in 2018.</a:t>
            </a:r>
          </a:p>
        </p:txBody>
      </p:sp>
    </p:spTree>
    <p:extLst>
      <p:ext uri="{BB962C8B-B14F-4D97-AF65-F5344CB8AC3E}">
        <p14:creationId xmlns:p14="http://schemas.microsoft.com/office/powerpoint/2010/main" val="1113841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211</Words>
  <Application>Microsoft Office PowerPoint</Application>
  <PresentationFormat>Widescreen</PresentationFormat>
  <Paragraphs>30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Marathon Times</vt:lpstr>
      <vt:lpstr>Median Marathon Times</vt:lpstr>
      <vt:lpstr>Scott’s Times Ahead of Next Leader</vt:lpstr>
      <vt:lpstr>Oprah’s Times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Marathon Times</dc:title>
  <dc:creator>Amanda Partlow</dc:creator>
  <cp:lastModifiedBy>Amanda Partlow</cp:lastModifiedBy>
  <cp:revision>4</cp:revision>
  <dcterms:created xsi:type="dcterms:W3CDTF">2020-03-23T14:25:54Z</dcterms:created>
  <dcterms:modified xsi:type="dcterms:W3CDTF">2020-03-23T15:01:42Z</dcterms:modified>
</cp:coreProperties>
</file>